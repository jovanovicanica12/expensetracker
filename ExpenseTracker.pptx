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7"/>
    </p:embeddedFont>
    <p:embeddedFont>
      <p:font typeface="Poppins Light" charset="1" panose="00000400000000000000"/>
      <p:regular r:id="rId28"/>
    </p:embeddedFont>
    <p:embeddedFont>
      <p:font typeface="Poppins Semi-Bold" charset="1" panose="000007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7507" y="2541498"/>
            <a:ext cx="14168570" cy="4890634"/>
            <a:chOff x="0" y="0"/>
            <a:chExt cx="3731640" cy="1288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6711" y="7009903"/>
            <a:ext cx="9065982" cy="1167429"/>
            <a:chOff x="0" y="0"/>
            <a:chExt cx="2387748" cy="30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7748" cy="307471"/>
            </a:xfrm>
            <a:custGeom>
              <a:avLst/>
              <a:gdLst/>
              <a:ahLst/>
              <a:cxnLst/>
              <a:rect r="r" b="b" t="t" l="l"/>
              <a:pathLst>
                <a:path h="307471" w="2387748">
                  <a:moveTo>
                    <a:pt x="85395" y="0"/>
                  </a:moveTo>
                  <a:lnTo>
                    <a:pt x="2302353" y="0"/>
                  </a:lnTo>
                  <a:cubicBezTo>
                    <a:pt x="2349516" y="0"/>
                    <a:pt x="2387748" y="38233"/>
                    <a:pt x="2387748" y="85395"/>
                  </a:cubicBezTo>
                  <a:lnTo>
                    <a:pt x="2387748" y="222076"/>
                  </a:lnTo>
                  <a:cubicBezTo>
                    <a:pt x="2387748" y="269238"/>
                    <a:pt x="2349516" y="307471"/>
                    <a:pt x="2302353" y="307471"/>
                  </a:cubicBezTo>
                  <a:lnTo>
                    <a:pt x="85395" y="307471"/>
                  </a:lnTo>
                  <a:cubicBezTo>
                    <a:pt x="38233" y="307471"/>
                    <a:pt x="0" y="269238"/>
                    <a:pt x="0" y="222076"/>
                  </a:cubicBezTo>
                  <a:lnTo>
                    <a:pt x="0" y="85395"/>
                  </a:lnTo>
                  <a:cubicBezTo>
                    <a:pt x="0" y="38233"/>
                    <a:pt x="38233" y="0"/>
                    <a:pt x="85395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87748" cy="34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-519040" y="1028700"/>
            <a:ext cx="5069887" cy="1003164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410942" y="7291993"/>
            <a:ext cx="807752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ANICA JOVANOVIĆ 2102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25540" y="3377934"/>
            <a:ext cx="11057710" cy="508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Jetpack Compose Tutorijal: Expense Tracker</a:t>
            </a:r>
          </a:p>
          <a:p>
            <a:pPr algn="l">
              <a:lnSpc>
                <a:spcPts val="13182"/>
              </a:lnSpc>
            </a:pPr>
          </a:p>
          <a:p>
            <a:pPr algn="l">
              <a:lnSpc>
                <a:spcPts val="1307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525540" y="5109691"/>
            <a:ext cx="1105771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3000">
                <a:solidFill>
                  <a:srgbClr val="DBDBDB"/>
                </a:solidFill>
                <a:latin typeface="Poppins"/>
                <a:ea typeface="Poppins"/>
                <a:cs typeface="Poppins"/>
                <a:sym typeface="Poppins"/>
              </a:rPr>
              <a:t>Android aplikacija z</a:t>
            </a:r>
            <a:r>
              <a:rPr lang="en-US" sz="3000">
                <a:solidFill>
                  <a:srgbClr val="DBDBDB"/>
                </a:solidFill>
                <a:latin typeface="Poppins"/>
                <a:ea typeface="Poppins"/>
                <a:cs typeface="Poppins"/>
                <a:sym typeface="Poppins"/>
              </a:rPr>
              <a:t>a praćenje ličnih troškova razvijena korišćenjem Jetpack Compose framework-a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715993" y="481013"/>
            <a:ext cx="285601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b="true" sz="7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UVOD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158495"/>
            <a:ext cx="16230600" cy="1310928"/>
            <a:chOff x="0" y="0"/>
            <a:chExt cx="21640800" cy="174790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640800" cy="1747904"/>
              <a:chOff x="0" y="0"/>
              <a:chExt cx="4274726" cy="34526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274726" cy="345265"/>
              </a:xfrm>
              <a:custGeom>
                <a:avLst/>
                <a:gdLst/>
                <a:ahLst/>
                <a:cxnLst/>
                <a:rect r="r" b="b" t="t" l="l"/>
                <a:pathLst>
                  <a:path h="345265" w="4274726">
                    <a:moveTo>
                      <a:pt x="8109" y="0"/>
                    </a:moveTo>
                    <a:lnTo>
                      <a:pt x="4266617" y="0"/>
                    </a:lnTo>
                    <a:cubicBezTo>
                      <a:pt x="4268768" y="0"/>
                      <a:pt x="4270830" y="854"/>
                      <a:pt x="4272351" y="2375"/>
                    </a:cubicBezTo>
                    <a:cubicBezTo>
                      <a:pt x="4273872" y="3896"/>
                      <a:pt x="4274726" y="5958"/>
                      <a:pt x="4274726" y="8109"/>
                    </a:cubicBezTo>
                    <a:lnTo>
                      <a:pt x="4274726" y="337156"/>
                    </a:lnTo>
                    <a:cubicBezTo>
                      <a:pt x="4274726" y="339307"/>
                      <a:pt x="4273872" y="341369"/>
                      <a:pt x="4272351" y="342890"/>
                    </a:cubicBezTo>
                    <a:cubicBezTo>
                      <a:pt x="4270830" y="344411"/>
                      <a:pt x="4268768" y="345265"/>
                      <a:pt x="4266617" y="345265"/>
                    </a:cubicBezTo>
                    <a:lnTo>
                      <a:pt x="8109" y="345265"/>
                    </a:lnTo>
                    <a:cubicBezTo>
                      <a:pt x="5958" y="345265"/>
                      <a:pt x="3896" y="344411"/>
                      <a:pt x="2375" y="342890"/>
                    </a:cubicBezTo>
                    <a:cubicBezTo>
                      <a:pt x="854" y="341369"/>
                      <a:pt x="0" y="339307"/>
                      <a:pt x="0" y="337156"/>
                    </a:cubicBezTo>
                    <a:lnTo>
                      <a:pt x="0" y="8109"/>
                    </a:lnTo>
                    <a:cubicBezTo>
                      <a:pt x="0" y="5958"/>
                      <a:pt x="854" y="3896"/>
                      <a:pt x="2375" y="2375"/>
                    </a:cubicBezTo>
                    <a:cubicBezTo>
                      <a:pt x="3896" y="854"/>
                      <a:pt x="5958" y="0"/>
                      <a:pt x="8109" y="0"/>
                    </a:cubicBezTo>
                    <a:close/>
                  </a:path>
                </a:pathLst>
              </a:custGeom>
              <a:solidFill>
                <a:srgbClr val="DF561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274726" cy="402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98245" y="365952"/>
              <a:ext cx="2104431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4"/>
                </a:lnSpc>
              </a:pP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Razvoj ko</a:t>
              </a: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risničkog interfejsa (UI) je jedan od najvažnijih aspekata Android aplikacija. </a:t>
              </a:r>
            </a:p>
            <a:p>
              <a:pPr algn="l" marL="0" indent="0" lvl="0">
                <a:lnSpc>
                  <a:spcPts val="2924"/>
                </a:lnSpc>
              </a:pP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Android UI je razvijen korišćenjem XML layout fajlova, dok se logika aplikacije pisala u Javi ili Kotlinu.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732601"/>
            <a:ext cx="16230600" cy="1310928"/>
            <a:chOff x="0" y="0"/>
            <a:chExt cx="21640800" cy="174790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747904"/>
              <a:chOff x="0" y="0"/>
              <a:chExt cx="4274726" cy="34526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345265"/>
              </a:xfrm>
              <a:custGeom>
                <a:avLst/>
                <a:gdLst/>
                <a:ahLst/>
                <a:cxnLst/>
                <a:rect r="r" b="b" t="t" l="l"/>
                <a:pathLst>
                  <a:path h="345265" w="4274726">
                    <a:moveTo>
                      <a:pt x="8109" y="0"/>
                    </a:moveTo>
                    <a:lnTo>
                      <a:pt x="4266617" y="0"/>
                    </a:lnTo>
                    <a:cubicBezTo>
                      <a:pt x="4268768" y="0"/>
                      <a:pt x="4270830" y="854"/>
                      <a:pt x="4272351" y="2375"/>
                    </a:cubicBezTo>
                    <a:cubicBezTo>
                      <a:pt x="4273872" y="3896"/>
                      <a:pt x="4274726" y="5958"/>
                      <a:pt x="4274726" y="8109"/>
                    </a:cubicBezTo>
                    <a:lnTo>
                      <a:pt x="4274726" y="337156"/>
                    </a:lnTo>
                    <a:cubicBezTo>
                      <a:pt x="4274726" y="339307"/>
                      <a:pt x="4273872" y="341369"/>
                      <a:pt x="4272351" y="342890"/>
                    </a:cubicBezTo>
                    <a:cubicBezTo>
                      <a:pt x="4270830" y="344411"/>
                      <a:pt x="4268768" y="345265"/>
                      <a:pt x="4266617" y="345265"/>
                    </a:cubicBezTo>
                    <a:lnTo>
                      <a:pt x="8109" y="345265"/>
                    </a:lnTo>
                    <a:cubicBezTo>
                      <a:pt x="5958" y="345265"/>
                      <a:pt x="3896" y="344411"/>
                      <a:pt x="2375" y="342890"/>
                    </a:cubicBezTo>
                    <a:cubicBezTo>
                      <a:pt x="854" y="341369"/>
                      <a:pt x="0" y="339307"/>
                      <a:pt x="0" y="337156"/>
                    </a:cubicBezTo>
                    <a:lnTo>
                      <a:pt x="0" y="8109"/>
                    </a:lnTo>
                    <a:cubicBezTo>
                      <a:pt x="0" y="5958"/>
                      <a:pt x="854" y="3896"/>
                      <a:pt x="2375" y="2375"/>
                    </a:cubicBezTo>
                    <a:cubicBezTo>
                      <a:pt x="3896" y="854"/>
                      <a:pt x="5958" y="0"/>
                      <a:pt x="8109" y="0"/>
                    </a:cubicBezTo>
                    <a:close/>
                  </a:path>
                </a:pathLst>
              </a:custGeom>
              <a:solidFill>
                <a:srgbClr val="DF561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274726" cy="402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3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98245" y="365952"/>
              <a:ext cx="2104431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4"/>
                </a:lnSpc>
              </a:pP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Sa razvojem mode</a:t>
              </a: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rnih tehnologija i potrebom za bržim i fleksibilnijim razvojem, Google je predstavio Jetpack Compose – moderan, deklarativni UI framework.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5306708"/>
            <a:ext cx="16230600" cy="1310928"/>
            <a:chOff x="0" y="0"/>
            <a:chExt cx="21640800" cy="174790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1640800" cy="1747904"/>
              <a:chOff x="0" y="0"/>
              <a:chExt cx="4274726" cy="34526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274726" cy="345265"/>
              </a:xfrm>
              <a:custGeom>
                <a:avLst/>
                <a:gdLst/>
                <a:ahLst/>
                <a:cxnLst/>
                <a:rect r="r" b="b" t="t" l="l"/>
                <a:pathLst>
                  <a:path h="345265" w="4274726">
                    <a:moveTo>
                      <a:pt x="8109" y="0"/>
                    </a:moveTo>
                    <a:lnTo>
                      <a:pt x="4266617" y="0"/>
                    </a:lnTo>
                    <a:cubicBezTo>
                      <a:pt x="4268768" y="0"/>
                      <a:pt x="4270830" y="854"/>
                      <a:pt x="4272351" y="2375"/>
                    </a:cubicBezTo>
                    <a:cubicBezTo>
                      <a:pt x="4273872" y="3896"/>
                      <a:pt x="4274726" y="5958"/>
                      <a:pt x="4274726" y="8109"/>
                    </a:cubicBezTo>
                    <a:lnTo>
                      <a:pt x="4274726" y="337156"/>
                    </a:lnTo>
                    <a:cubicBezTo>
                      <a:pt x="4274726" y="339307"/>
                      <a:pt x="4273872" y="341369"/>
                      <a:pt x="4272351" y="342890"/>
                    </a:cubicBezTo>
                    <a:cubicBezTo>
                      <a:pt x="4270830" y="344411"/>
                      <a:pt x="4268768" y="345265"/>
                      <a:pt x="4266617" y="345265"/>
                    </a:cubicBezTo>
                    <a:lnTo>
                      <a:pt x="8109" y="345265"/>
                    </a:lnTo>
                    <a:cubicBezTo>
                      <a:pt x="5958" y="345265"/>
                      <a:pt x="3896" y="344411"/>
                      <a:pt x="2375" y="342890"/>
                    </a:cubicBezTo>
                    <a:cubicBezTo>
                      <a:pt x="854" y="341369"/>
                      <a:pt x="0" y="339307"/>
                      <a:pt x="0" y="337156"/>
                    </a:cubicBezTo>
                    <a:lnTo>
                      <a:pt x="0" y="8109"/>
                    </a:lnTo>
                    <a:cubicBezTo>
                      <a:pt x="0" y="5958"/>
                      <a:pt x="854" y="3896"/>
                      <a:pt x="2375" y="2375"/>
                    </a:cubicBezTo>
                    <a:cubicBezTo>
                      <a:pt x="3896" y="854"/>
                      <a:pt x="5958" y="0"/>
                      <a:pt x="8109" y="0"/>
                    </a:cubicBezTo>
                    <a:close/>
                  </a:path>
                </a:pathLst>
              </a:custGeom>
              <a:solidFill>
                <a:srgbClr val="DF561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4274726" cy="402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3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98245" y="365952"/>
              <a:ext cx="2104431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4"/>
                </a:lnSpc>
              </a:pP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Ovaj projekat predstavlja praktičan primer razvoja mode</a:t>
              </a: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rne Android aplikacije za praćenje ličnih troškova (Expense Tracker) korišćenjem Jetpack Compose-a.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6884336"/>
            <a:ext cx="16230600" cy="1310928"/>
            <a:chOff x="0" y="0"/>
            <a:chExt cx="21640800" cy="174790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1640800" cy="1747904"/>
              <a:chOff x="0" y="0"/>
              <a:chExt cx="4274726" cy="34526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274726" cy="345265"/>
              </a:xfrm>
              <a:custGeom>
                <a:avLst/>
                <a:gdLst/>
                <a:ahLst/>
                <a:cxnLst/>
                <a:rect r="r" b="b" t="t" l="l"/>
                <a:pathLst>
                  <a:path h="345265" w="4274726">
                    <a:moveTo>
                      <a:pt x="8109" y="0"/>
                    </a:moveTo>
                    <a:lnTo>
                      <a:pt x="4266617" y="0"/>
                    </a:lnTo>
                    <a:cubicBezTo>
                      <a:pt x="4268768" y="0"/>
                      <a:pt x="4270830" y="854"/>
                      <a:pt x="4272351" y="2375"/>
                    </a:cubicBezTo>
                    <a:cubicBezTo>
                      <a:pt x="4273872" y="3896"/>
                      <a:pt x="4274726" y="5958"/>
                      <a:pt x="4274726" y="8109"/>
                    </a:cubicBezTo>
                    <a:lnTo>
                      <a:pt x="4274726" y="337156"/>
                    </a:lnTo>
                    <a:cubicBezTo>
                      <a:pt x="4274726" y="339307"/>
                      <a:pt x="4273872" y="341369"/>
                      <a:pt x="4272351" y="342890"/>
                    </a:cubicBezTo>
                    <a:cubicBezTo>
                      <a:pt x="4270830" y="344411"/>
                      <a:pt x="4268768" y="345265"/>
                      <a:pt x="4266617" y="345265"/>
                    </a:cubicBezTo>
                    <a:lnTo>
                      <a:pt x="8109" y="345265"/>
                    </a:lnTo>
                    <a:cubicBezTo>
                      <a:pt x="5958" y="345265"/>
                      <a:pt x="3896" y="344411"/>
                      <a:pt x="2375" y="342890"/>
                    </a:cubicBezTo>
                    <a:cubicBezTo>
                      <a:pt x="854" y="341369"/>
                      <a:pt x="0" y="339307"/>
                      <a:pt x="0" y="337156"/>
                    </a:cubicBezTo>
                    <a:lnTo>
                      <a:pt x="0" y="8109"/>
                    </a:lnTo>
                    <a:cubicBezTo>
                      <a:pt x="0" y="5958"/>
                      <a:pt x="854" y="3896"/>
                      <a:pt x="2375" y="2375"/>
                    </a:cubicBezTo>
                    <a:cubicBezTo>
                      <a:pt x="3896" y="854"/>
                      <a:pt x="5958" y="0"/>
                      <a:pt x="8109" y="0"/>
                    </a:cubicBezTo>
                    <a:close/>
                  </a:path>
                </a:pathLst>
              </a:custGeom>
              <a:solidFill>
                <a:srgbClr val="DF5617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4274726" cy="402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3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98245" y="365952"/>
              <a:ext cx="2104431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4"/>
                </a:lnSpc>
              </a:pP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Cilj ovog projekta je detaljna analiza i poređenje ova dva pristupa, sa osvrtom na arhitektu</a:t>
              </a: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ru, način rada, prednosti, mane i primenu u realnim projektima.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8461964"/>
            <a:ext cx="16230600" cy="1310928"/>
            <a:chOff x="0" y="0"/>
            <a:chExt cx="21640800" cy="174790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1640800" cy="1747904"/>
              <a:chOff x="0" y="0"/>
              <a:chExt cx="4274726" cy="34526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274726" cy="345265"/>
              </a:xfrm>
              <a:custGeom>
                <a:avLst/>
                <a:gdLst/>
                <a:ahLst/>
                <a:cxnLst/>
                <a:rect r="r" b="b" t="t" l="l"/>
                <a:pathLst>
                  <a:path h="345265" w="4274726">
                    <a:moveTo>
                      <a:pt x="8109" y="0"/>
                    </a:moveTo>
                    <a:lnTo>
                      <a:pt x="4266617" y="0"/>
                    </a:lnTo>
                    <a:cubicBezTo>
                      <a:pt x="4268768" y="0"/>
                      <a:pt x="4270830" y="854"/>
                      <a:pt x="4272351" y="2375"/>
                    </a:cubicBezTo>
                    <a:cubicBezTo>
                      <a:pt x="4273872" y="3896"/>
                      <a:pt x="4274726" y="5958"/>
                      <a:pt x="4274726" y="8109"/>
                    </a:cubicBezTo>
                    <a:lnTo>
                      <a:pt x="4274726" y="337156"/>
                    </a:lnTo>
                    <a:cubicBezTo>
                      <a:pt x="4274726" y="339307"/>
                      <a:pt x="4273872" y="341369"/>
                      <a:pt x="4272351" y="342890"/>
                    </a:cubicBezTo>
                    <a:cubicBezTo>
                      <a:pt x="4270830" y="344411"/>
                      <a:pt x="4268768" y="345265"/>
                      <a:pt x="4266617" y="345265"/>
                    </a:cubicBezTo>
                    <a:lnTo>
                      <a:pt x="8109" y="345265"/>
                    </a:lnTo>
                    <a:cubicBezTo>
                      <a:pt x="5958" y="345265"/>
                      <a:pt x="3896" y="344411"/>
                      <a:pt x="2375" y="342890"/>
                    </a:cubicBezTo>
                    <a:cubicBezTo>
                      <a:pt x="854" y="341369"/>
                      <a:pt x="0" y="339307"/>
                      <a:pt x="0" y="337156"/>
                    </a:cubicBezTo>
                    <a:lnTo>
                      <a:pt x="0" y="8109"/>
                    </a:lnTo>
                    <a:cubicBezTo>
                      <a:pt x="0" y="5958"/>
                      <a:pt x="854" y="3896"/>
                      <a:pt x="2375" y="2375"/>
                    </a:cubicBezTo>
                    <a:cubicBezTo>
                      <a:pt x="3896" y="854"/>
                      <a:pt x="5958" y="0"/>
                      <a:pt x="8109" y="0"/>
                    </a:cubicBezTo>
                    <a:close/>
                  </a:path>
                </a:pathLst>
              </a:custGeom>
              <a:solidFill>
                <a:srgbClr val="DF561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4274726" cy="402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3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98245" y="365952"/>
              <a:ext cx="2104431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4"/>
                </a:lnSpc>
              </a:pP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Aplikacija omogućava unos, izmenu, brisanje i pregled troškova, kao i viz</a:t>
              </a:r>
              <a:r>
                <a:rPr lang="en-US" sz="24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uelni prikaz statistike kroz grafikone.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891569" y="481013"/>
            <a:ext cx="650486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XML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77689" y="3784234"/>
            <a:ext cx="4098022" cy="5474066"/>
            <a:chOff x="0" y="0"/>
            <a:chExt cx="1079314" cy="1441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80803" y="4146170"/>
            <a:ext cx="34107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Osnovne karakteristike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27368" y="5249558"/>
            <a:ext cx="3998665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UI i logika su strogo odvojeni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Svaki element ima sopstveni XML tag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Hijerarhijska struktura layouta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Često korišćenje findViewById (ili ViewBinding/DataBinding)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2158495"/>
            <a:ext cx="16230600" cy="1310928"/>
            <a:chOff x="0" y="0"/>
            <a:chExt cx="4274726" cy="3452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345265"/>
            </a:xfrm>
            <a:custGeom>
              <a:avLst/>
              <a:gdLst/>
              <a:ahLst/>
              <a:cxnLst/>
              <a:rect r="r" b="b" t="t" l="l"/>
              <a:pathLst>
                <a:path h="345265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37156"/>
                  </a:lnTo>
                  <a:cubicBezTo>
                    <a:pt x="4274726" y="339307"/>
                    <a:pt x="4273872" y="341369"/>
                    <a:pt x="4272351" y="342890"/>
                  </a:cubicBezTo>
                  <a:cubicBezTo>
                    <a:pt x="4270830" y="344411"/>
                    <a:pt x="4268768" y="345265"/>
                    <a:pt x="4266617" y="345265"/>
                  </a:cubicBezTo>
                  <a:lnTo>
                    <a:pt x="8109" y="345265"/>
                  </a:lnTo>
                  <a:cubicBezTo>
                    <a:pt x="5958" y="345265"/>
                    <a:pt x="3896" y="344411"/>
                    <a:pt x="2375" y="342890"/>
                  </a:cubicBezTo>
                  <a:cubicBezTo>
                    <a:pt x="854" y="341369"/>
                    <a:pt x="0" y="339307"/>
                    <a:pt x="0" y="337156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74726" cy="402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2384" y="2428196"/>
            <a:ext cx="1578323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4"/>
              </a:lnSpc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XML se ko</a:t>
            </a: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risti za definisanje izgleda Android ekrana. Svaki ekran se opisuje posebnim XML fajlom, dok se ponašanje komponenti kontroliše iz Java ili Kotlin koda.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18738" y="3784234"/>
            <a:ext cx="4098022" cy="5474066"/>
            <a:chOff x="0" y="0"/>
            <a:chExt cx="1079314" cy="1441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421852" y="4146170"/>
            <a:ext cx="341076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Prednosti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68416" y="5249558"/>
            <a:ext cx="3998665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Dugogodišnja stabilnost i dokumentacija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Velika količina postojećih projekata i primera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Lakše razumevanje za početnike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Jasna separacija dizajna i logike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761976" y="5306708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059786" y="3784234"/>
            <a:ext cx="4098022" cy="5474066"/>
            <a:chOff x="0" y="0"/>
            <a:chExt cx="1079314" cy="1441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62900" y="4146170"/>
            <a:ext cx="341076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09464" y="5249558"/>
            <a:ext cx="3998665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Veliki i nepregledni layout fajlovi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Teško upravljanje dinamičkim UI-em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Boilerplate kod (binding, adapteri, listeneri)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Kompleksne h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ijerarhije smanjuju performanse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84962" y="481013"/>
            <a:ext cx="891807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Jetpack Compose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77689" y="3784234"/>
            <a:ext cx="4098022" cy="5474066"/>
            <a:chOff x="0" y="0"/>
            <a:chExt cx="1079314" cy="1441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80803" y="4146170"/>
            <a:ext cx="34107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Osnovne karakteristike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27368" y="5249558"/>
            <a:ext cx="3998665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UI se piše direktno u Kotlinu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klarativni pristup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Automatski reaguje na promenu stanja (state)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Bez XML fajlova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2158495"/>
            <a:ext cx="16230600" cy="1310928"/>
            <a:chOff x="0" y="0"/>
            <a:chExt cx="4274726" cy="3452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345265"/>
            </a:xfrm>
            <a:custGeom>
              <a:avLst/>
              <a:gdLst/>
              <a:ahLst/>
              <a:cxnLst/>
              <a:rect r="r" b="b" t="t" l="l"/>
              <a:pathLst>
                <a:path h="345265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37156"/>
                  </a:lnTo>
                  <a:cubicBezTo>
                    <a:pt x="4274726" y="339307"/>
                    <a:pt x="4273872" y="341369"/>
                    <a:pt x="4272351" y="342890"/>
                  </a:cubicBezTo>
                  <a:cubicBezTo>
                    <a:pt x="4270830" y="344411"/>
                    <a:pt x="4268768" y="345265"/>
                    <a:pt x="4266617" y="345265"/>
                  </a:cubicBezTo>
                  <a:lnTo>
                    <a:pt x="8109" y="345265"/>
                  </a:lnTo>
                  <a:cubicBezTo>
                    <a:pt x="5958" y="345265"/>
                    <a:pt x="3896" y="344411"/>
                    <a:pt x="2375" y="342890"/>
                  </a:cubicBezTo>
                  <a:cubicBezTo>
                    <a:pt x="854" y="341369"/>
                    <a:pt x="0" y="339307"/>
                    <a:pt x="0" y="337156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74726" cy="402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2384" y="2428196"/>
            <a:ext cx="1578323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4"/>
              </a:lnSpc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Je</a:t>
            </a: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tpack Compose predstavlja potpuno novi način razmišljanja o UI-u. Umesto opisivanja kako da se UI izgradi, Compose opisuje kako UI treba da izgleda u datom stanju.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18738" y="3784234"/>
            <a:ext cx="4098022" cy="5474066"/>
            <a:chOff x="0" y="0"/>
            <a:chExt cx="1079314" cy="1441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421852" y="4146170"/>
            <a:ext cx="341076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Prednosti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68416" y="5249558"/>
            <a:ext cx="3998665" cy="37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Manje koda (manje boilerplate-a)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Lakše upravljanje dinamičkim UI-em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Bolja čitljivost i održavanje koda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Jednostavne animacije i teme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Brži razvoj i iteracije (Preview, Hot Reload)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761976" y="5306708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059786" y="3784234"/>
            <a:ext cx="4098022" cy="5474066"/>
            <a:chOff x="0" y="0"/>
            <a:chExt cx="1079314" cy="1441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DF561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62900" y="4146170"/>
            <a:ext cx="341076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09464" y="5249558"/>
            <a:ext cx="3998665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Novija tehnologija (manje legacy resursa)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eća početna kriva učenja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igracija postojećih XML projekata zahteva vreme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Potrebno razum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evanje stanja i recomposition-a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15020" y="2620102"/>
            <a:ext cx="13457960" cy="6638198"/>
            <a:chOff x="0" y="0"/>
            <a:chExt cx="17943947" cy="885093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28880" y="28880"/>
              <a:ext cx="17883672" cy="8822051"/>
              <a:chOff x="0" y="0"/>
              <a:chExt cx="3106897" cy="15326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06897" cy="1532638"/>
              </a:xfrm>
              <a:custGeom>
                <a:avLst/>
                <a:gdLst/>
                <a:ahLst/>
                <a:cxnLst/>
                <a:rect r="r" b="b" t="t" l="l"/>
                <a:pathLst>
                  <a:path h="1532638" w="3106897">
                    <a:moveTo>
                      <a:pt x="0" y="0"/>
                    </a:moveTo>
                    <a:lnTo>
                      <a:pt x="3106897" y="0"/>
                    </a:lnTo>
                    <a:lnTo>
                      <a:pt x="3106897" y="1532638"/>
                    </a:lnTo>
                    <a:lnTo>
                      <a:pt x="0" y="1532638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106897" cy="15707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28880" y="28880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8880" y="8817678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28880" y="1284423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8880" y="2539965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28880" y="3795508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28880" y="5051050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28880" y="6306593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28880" y="7562135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5990104" y="33253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5990104" y="8822051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5990104" y="1288796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5990104" y="2544338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5990104" y="3799881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5990104" y="5055423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5990104" y="6310966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990104" y="7566508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1951328" y="33253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11951328" y="8822051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11951328" y="1288796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11951328" y="2544338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11951328" y="3799881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11951328" y="5055423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11951328" y="6310966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11951328" y="7566508"/>
              <a:ext cx="5961224" cy="0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28880" y="28880"/>
              <a:ext cx="0" cy="8788798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5990104" y="28880"/>
              <a:ext cx="0" cy="8788798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11951328" y="28880"/>
              <a:ext cx="0" cy="8822051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17915067" y="16627"/>
              <a:ext cx="0" cy="8822051"/>
            </a:xfrm>
            <a:prstGeom prst="line">
              <a:avLst/>
            </a:prstGeom>
            <a:ln cap="flat" w="5776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028700" y="688293"/>
            <a:ext cx="162306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XML VS JETPACK COMPOSE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82861" y="2853646"/>
            <a:ext cx="162251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OSOBINA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77472" y="2853646"/>
            <a:ext cx="73305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XML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38401" y="2853646"/>
            <a:ext cx="32132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JETPACK COMPOSE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816213" y="3797579"/>
            <a:ext cx="195581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Način pisanja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24048" y="3797579"/>
            <a:ext cx="163990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Imperativni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77462" y="3797579"/>
            <a:ext cx="173511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Deklarativni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427590" y="4731988"/>
            <a:ext cx="733056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Jezik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897830" y="4731988"/>
            <a:ext cx="249234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XML + Kotlin/Java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11241" y="4731988"/>
            <a:ext cx="8675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Kotlin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380926" y="5666396"/>
            <a:ext cx="282638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Upravljanje stanjem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70545" y="5666396"/>
            <a:ext cx="94691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Ručno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877462" y="5666396"/>
            <a:ext cx="173511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Automatsko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61062" y="6600804"/>
            <a:ext cx="14661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Animacije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197090" y="6600804"/>
            <a:ext cx="189382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Kompleksne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813983" y="6600804"/>
            <a:ext cx="186207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Jednostavne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870624" y="7535213"/>
            <a:ext cx="18469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Performanse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16460" y="7535213"/>
            <a:ext cx="285508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Zavise od hijerarhije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644149" y="7535524"/>
            <a:ext cx="420174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Optimizovana recomposition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761802" y="8469621"/>
            <a:ext cx="206463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Brzina razvoja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596102" y="8469621"/>
            <a:ext cx="109579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Sporija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30639" y="8469621"/>
            <a:ext cx="62876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Brža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89653"/>
            <a:ext cx="1623060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ARHITEKTURA I UPRAVLJANJE STANJEM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60707" y="3429440"/>
            <a:ext cx="9166586" cy="2383969"/>
            <a:chOff x="0" y="0"/>
            <a:chExt cx="2176325" cy="5660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325" cy="566001"/>
            </a:xfrm>
            <a:custGeom>
              <a:avLst/>
              <a:gdLst/>
              <a:ahLst/>
              <a:cxnLst/>
              <a:rect r="r" b="b" t="t" l="l"/>
              <a:pathLst>
                <a:path h="566001" w="2176325">
                  <a:moveTo>
                    <a:pt x="14358" y="0"/>
                  </a:moveTo>
                  <a:lnTo>
                    <a:pt x="2161967" y="0"/>
                  </a:lnTo>
                  <a:cubicBezTo>
                    <a:pt x="2165775" y="0"/>
                    <a:pt x="2169427" y="1513"/>
                    <a:pt x="2172120" y="4205"/>
                  </a:cubicBezTo>
                  <a:cubicBezTo>
                    <a:pt x="2174813" y="6898"/>
                    <a:pt x="2176325" y="10550"/>
                    <a:pt x="2176325" y="14358"/>
                  </a:cubicBezTo>
                  <a:lnTo>
                    <a:pt x="2176325" y="551643"/>
                  </a:lnTo>
                  <a:cubicBezTo>
                    <a:pt x="2176325" y="555451"/>
                    <a:pt x="2174813" y="559103"/>
                    <a:pt x="2172120" y="561795"/>
                  </a:cubicBezTo>
                  <a:cubicBezTo>
                    <a:pt x="2169427" y="564488"/>
                    <a:pt x="2165775" y="566001"/>
                    <a:pt x="2161967" y="566001"/>
                  </a:cubicBezTo>
                  <a:lnTo>
                    <a:pt x="14358" y="566001"/>
                  </a:lnTo>
                  <a:cubicBezTo>
                    <a:pt x="6428" y="566001"/>
                    <a:pt x="0" y="559572"/>
                    <a:pt x="0" y="551643"/>
                  </a:cubicBezTo>
                  <a:lnTo>
                    <a:pt x="0" y="14358"/>
                  </a:lnTo>
                  <a:cubicBezTo>
                    <a:pt x="0" y="6428"/>
                    <a:pt x="6428" y="0"/>
                    <a:pt x="14358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76325" cy="623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69452" y="3769689"/>
            <a:ext cx="7549097" cy="164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 XML-a, promene UI-a zahtevaju ručne izmene: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Menj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anje vidljivosti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Ponovno bindovanje podataka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Pozi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vanje metoda nad view-ovima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60707" y="6432534"/>
            <a:ext cx="9166586" cy="2825766"/>
            <a:chOff x="0" y="0"/>
            <a:chExt cx="2176325" cy="6708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325" cy="670892"/>
            </a:xfrm>
            <a:custGeom>
              <a:avLst/>
              <a:gdLst/>
              <a:ahLst/>
              <a:cxnLst/>
              <a:rect r="r" b="b" t="t" l="l"/>
              <a:pathLst>
                <a:path h="670892" w="2176325">
                  <a:moveTo>
                    <a:pt x="14358" y="0"/>
                  </a:moveTo>
                  <a:lnTo>
                    <a:pt x="2161967" y="0"/>
                  </a:lnTo>
                  <a:cubicBezTo>
                    <a:pt x="2165775" y="0"/>
                    <a:pt x="2169427" y="1513"/>
                    <a:pt x="2172120" y="4205"/>
                  </a:cubicBezTo>
                  <a:cubicBezTo>
                    <a:pt x="2174813" y="6898"/>
                    <a:pt x="2176325" y="10550"/>
                    <a:pt x="2176325" y="14358"/>
                  </a:cubicBezTo>
                  <a:lnTo>
                    <a:pt x="2176325" y="656534"/>
                  </a:lnTo>
                  <a:cubicBezTo>
                    <a:pt x="2176325" y="664463"/>
                    <a:pt x="2169897" y="670892"/>
                    <a:pt x="2161967" y="670892"/>
                  </a:cubicBezTo>
                  <a:lnTo>
                    <a:pt x="14358" y="670892"/>
                  </a:lnTo>
                  <a:cubicBezTo>
                    <a:pt x="6428" y="670892"/>
                    <a:pt x="0" y="664463"/>
                    <a:pt x="0" y="656534"/>
                  </a:cubicBezTo>
                  <a:lnTo>
                    <a:pt x="0" y="14358"/>
                  </a:lnTo>
                  <a:cubicBezTo>
                    <a:pt x="0" y="6428"/>
                    <a:pt x="6428" y="0"/>
                    <a:pt x="14358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76325" cy="728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69452" y="6787639"/>
            <a:ext cx="7549097" cy="205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Jetpack Compose-u: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UI je funkci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stanja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Promena stanja automatski iza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zi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 recomposition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Manja šansa za greške i „nekonzistentan UI“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89653"/>
            <a:ext cx="162306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PERFORMANSE I ODRŽAVANJE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60707" y="3429440"/>
            <a:ext cx="9166586" cy="2383969"/>
            <a:chOff x="0" y="0"/>
            <a:chExt cx="2176325" cy="5660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325" cy="566001"/>
            </a:xfrm>
            <a:custGeom>
              <a:avLst/>
              <a:gdLst/>
              <a:ahLst/>
              <a:cxnLst/>
              <a:rect r="r" b="b" t="t" l="l"/>
              <a:pathLst>
                <a:path h="566001" w="2176325">
                  <a:moveTo>
                    <a:pt x="14358" y="0"/>
                  </a:moveTo>
                  <a:lnTo>
                    <a:pt x="2161967" y="0"/>
                  </a:lnTo>
                  <a:cubicBezTo>
                    <a:pt x="2165775" y="0"/>
                    <a:pt x="2169427" y="1513"/>
                    <a:pt x="2172120" y="4205"/>
                  </a:cubicBezTo>
                  <a:cubicBezTo>
                    <a:pt x="2174813" y="6898"/>
                    <a:pt x="2176325" y="10550"/>
                    <a:pt x="2176325" y="14358"/>
                  </a:cubicBezTo>
                  <a:lnTo>
                    <a:pt x="2176325" y="551643"/>
                  </a:lnTo>
                  <a:cubicBezTo>
                    <a:pt x="2176325" y="555451"/>
                    <a:pt x="2174813" y="559103"/>
                    <a:pt x="2172120" y="561795"/>
                  </a:cubicBezTo>
                  <a:cubicBezTo>
                    <a:pt x="2169427" y="564488"/>
                    <a:pt x="2165775" y="566001"/>
                    <a:pt x="2161967" y="566001"/>
                  </a:cubicBezTo>
                  <a:lnTo>
                    <a:pt x="14358" y="566001"/>
                  </a:lnTo>
                  <a:cubicBezTo>
                    <a:pt x="6428" y="566001"/>
                    <a:pt x="0" y="559572"/>
                    <a:pt x="0" y="551643"/>
                  </a:cubicBezTo>
                  <a:lnTo>
                    <a:pt x="0" y="14358"/>
                  </a:lnTo>
                  <a:cubicBezTo>
                    <a:pt x="0" y="6428"/>
                    <a:pt x="6428" y="0"/>
                    <a:pt x="14358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76325" cy="623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69452" y="3769689"/>
            <a:ext cx="7549097" cy="164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XML: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Može imati duboke view hijerarhije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eže održav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anje velikih layout fajlova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Veći rizik od grešaka pr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promenama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60707" y="6432534"/>
            <a:ext cx="9166586" cy="2825766"/>
            <a:chOff x="0" y="0"/>
            <a:chExt cx="2176325" cy="6708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325" cy="670892"/>
            </a:xfrm>
            <a:custGeom>
              <a:avLst/>
              <a:gdLst/>
              <a:ahLst/>
              <a:cxnLst/>
              <a:rect r="r" b="b" t="t" l="l"/>
              <a:pathLst>
                <a:path h="670892" w="2176325">
                  <a:moveTo>
                    <a:pt x="14358" y="0"/>
                  </a:moveTo>
                  <a:lnTo>
                    <a:pt x="2161967" y="0"/>
                  </a:lnTo>
                  <a:cubicBezTo>
                    <a:pt x="2165775" y="0"/>
                    <a:pt x="2169427" y="1513"/>
                    <a:pt x="2172120" y="4205"/>
                  </a:cubicBezTo>
                  <a:cubicBezTo>
                    <a:pt x="2174813" y="6898"/>
                    <a:pt x="2176325" y="10550"/>
                    <a:pt x="2176325" y="14358"/>
                  </a:cubicBezTo>
                  <a:lnTo>
                    <a:pt x="2176325" y="656534"/>
                  </a:lnTo>
                  <a:cubicBezTo>
                    <a:pt x="2176325" y="664463"/>
                    <a:pt x="2169897" y="670892"/>
                    <a:pt x="2161967" y="670892"/>
                  </a:cubicBezTo>
                  <a:lnTo>
                    <a:pt x="14358" y="670892"/>
                  </a:lnTo>
                  <a:cubicBezTo>
                    <a:pt x="6428" y="670892"/>
                    <a:pt x="0" y="664463"/>
                    <a:pt x="0" y="656534"/>
                  </a:cubicBezTo>
                  <a:lnTo>
                    <a:pt x="0" y="14358"/>
                  </a:lnTo>
                  <a:cubicBezTo>
                    <a:pt x="0" y="6428"/>
                    <a:pt x="6428" y="0"/>
                    <a:pt x="14358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76325" cy="728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69452" y="6787639"/>
            <a:ext cx="7549097" cy="205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Jetpack Compose: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Kor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isti pametnu recomposition strategiju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Izbegava duboke hijerarh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ije</a:t>
            </a:r>
          </a:p>
          <a:p>
            <a:pPr algn="l" marL="502957" indent="-251479" lvl="1">
              <a:lnSpc>
                <a:spcPts val="3261"/>
              </a:lnSpc>
              <a:buFont typeface="Arial"/>
              <a:buChar char="•"/>
            </a:pP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Olakša</a:t>
            </a:r>
            <a:r>
              <a:rPr lang="en-US" sz="2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 refaktorisanje i ponovno korišćenje komponenti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89653"/>
            <a:ext cx="162306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PRIMENA U REALNIM PROJEKTIMA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64378" y="2819369"/>
            <a:ext cx="15159245" cy="4648262"/>
            <a:chOff x="0" y="0"/>
            <a:chExt cx="2176325" cy="6673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325" cy="667324"/>
            </a:xfrm>
            <a:custGeom>
              <a:avLst/>
              <a:gdLst/>
              <a:ahLst/>
              <a:cxnLst/>
              <a:rect r="r" b="b" t="t" l="l"/>
              <a:pathLst>
                <a:path h="667324" w="2176325">
                  <a:moveTo>
                    <a:pt x="8682" y="0"/>
                  </a:moveTo>
                  <a:lnTo>
                    <a:pt x="2167643" y="0"/>
                  </a:lnTo>
                  <a:cubicBezTo>
                    <a:pt x="2169946" y="0"/>
                    <a:pt x="2172154" y="915"/>
                    <a:pt x="2173782" y="2543"/>
                  </a:cubicBezTo>
                  <a:cubicBezTo>
                    <a:pt x="2175411" y="4171"/>
                    <a:pt x="2176325" y="6379"/>
                    <a:pt x="2176325" y="8682"/>
                  </a:cubicBezTo>
                  <a:lnTo>
                    <a:pt x="2176325" y="658642"/>
                  </a:lnTo>
                  <a:cubicBezTo>
                    <a:pt x="2176325" y="660945"/>
                    <a:pt x="2175411" y="663153"/>
                    <a:pt x="2173782" y="664781"/>
                  </a:cubicBezTo>
                  <a:cubicBezTo>
                    <a:pt x="2172154" y="666409"/>
                    <a:pt x="2169946" y="667324"/>
                    <a:pt x="2167643" y="667324"/>
                  </a:cubicBezTo>
                  <a:lnTo>
                    <a:pt x="8682" y="667324"/>
                  </a:lnTo>
                  <a:cubicBezTo>
                    <a:pt x="6379" y="667324"/>
                    <a:pt x="4171" y="666409"/>
                    <a:pt x="2543" y="664781"/>
                  </a:cubicBezTo>
                  <a:cubicBezTo>
                    <a:pt x="915" y="663153"/>
                    <a:pt x="0" y="660945"/>
                    <a:pt x="0" y="658642"/>
                  </a:cubicBezTo>
                  <a:lnTo>
                    <a:pt x="0" y="8682"/>
                  </a:lnTo>
                  <a:cubicBezTo>
                    <a:pt x="0" y="6379"/>
                    <a:pt x="915" y="4171"/>
                    <a:pt x="2543" y="2543"/>
                  </a:cubicBezTo>
                  <a:cubicBezTo>
                    <a:pt x="4171" y="915"/>
                    <a:pt x="6379" y="0"/>
                    <a:pt x="8682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76325" cy="724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01840" y="3371794"/>
            <a:ext cx="12484321" cy="34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766" indent="-415883" lvl="1">
              <a:lnSpc>
                <a:spcPts val="5393"/>
              </a:lnSpc>
              <a:buFont typeface="Arial"/>
              <a:buChar char="•"/>
            </a:pPr>
            <a:r>
              <a:rPr lang="en-US" sz="3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XML je i dalje čest u legacy projektima</a:t>
            </a:r>
          </a:p>
          <a:p>
            <a:pPr algn="l" marL="831766" indent="-415883" lvl="1">
              <a:lnSpc>
                <a:spcPts val="5393"/>
              </a:lnSpc>
              <a:buFont typeface="Arial"/>
              <a:buChar char="•"/>
            </a:pPr>
            <a:r>
              <a:rPr lang="en-US" sz="3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Jetpack Compose </a:t>
            </a:r>
            <a:r>
              <a:rPr lang="en-US" sz="3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 preporučeni pristup za nove projekte</a:t>
            </a:r>
          </a:p>
          <a:p>
            <a:pPr algn="l" marL="831766" indent="-415883" lvl="1">
              <a:lnSpc>
                <a:spcPts val="5393"/>
              </a:lnSpc>
              <a:buFont typeface="Arial"/>
              <a:buChar char="•"/>
            </a:pPr>
            <a:r>
              <a:rPr lang="en-US" sz="3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Moguća je postepena migrac</a:t>
            </a:r>
            <a:r>
              <a:rPr lang="en-US" sz="3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ija</a:t>
            </a:r>
            <a:r>
              <a:rPr lang="en-US" sz="3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(Compose + XML zajedno)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159648" y="767781"/>
            <a:ext cx="4422885" cy="8751438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6613" t="-7474" r="-3663" b="-448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132270" y="4142533"/>
            <a:ext cx="2477640" cy="2001933"/>
          </a:xfrm>
          <a:custGeom>
            <a:avLst/>
            <a:gdLst/>
            <a:ahLst/>
            <a:cxnLst/>
            <a:rect r="r" b="b" t="t" l="l"/>
            <a:pathLst>
              <a:path h="2001933" w="2477640">
                <a:moveTo>
                  <a:pt x="0" y="0"/>
                </a:moveTo>
                <a:lnTo>
                  <a:pt x="2477640" y="0"/>
                </a:lnTo>
                <a:lnTo>
                  <a:pt x="2477640" y="2001934"/>
                </a:lnTo>
                <a:lnTo>
                  <a:pt x="0" y="2001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4642803"/>
            <a:ext cx="6406223" cy="102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Text + Button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64067"/>
            <a:ext cx="8050721" cy="5887312"/>
          </a:xfrm>
          <a:custGeom>
            <a:avLst/>
            <a:gdLst/>
            <a:ahLst/>
            <a:cxnLst/>
            <a:rect r="r" b="b" t="t" l="l"/>
            <a:pathLst>
              <a:path h="5887312" w="8050721">
                <a:moveTo>
                  <a:pt x="0" y="0"/>
                </a:moveTo>
                <a:lnTo>
                  <a:pt x="8050721" y="0"/>
                </a:lnTo>
                <a:lnTo>
                  <a:pt x="8050721" y="5887312"/>
                </a:lnTo>
                <a:lnTo>
                  <a:pt x="0" y="588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861944"/>
            <a:ext cx="8115300" cy="559895"/>
          </a:xfrm>
          <a:custGeom>
            <a:avLst/>
            <a:gdLst/>
            <a:ahLst/>
            <a:cxnLst/>
            <a:rect r="r" b="b" t="t" l="l"/>
            <a:pathLst>
              <a:path h="559895" w="8115300">
                <a:moveTo>
                  <a:pt x="0" y="0"/>
                </a:moveTo>
                <a:lnTo>
                  <a:pt x="8115300" y="0"/>
                </a:lnTo>
                <a:lnTo>
                  <a:pt x="8115300" y="559895"/>
                </a:lnTo>
                <a:lnTo>
                  <a:pt x="0" y="559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9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1669" y="2255350"/>
            <a:ext cx="8246234" cy="2529520"/>
          </a:xfrm>
          <a:custGeom>
            <a:avLst/>
            <a:gdLst/>
            <a:ahLst/>
            <a:cxnLst/>
            <a:rect r="r" b="b" t="t" l="l"/>
            <a:pathLst>
              <a:path h="2529520" w="8246234">
                <a:moveTo>
                  <a:pt x="0" y="0"/>
                </a:moveTo>
                <a:lnTo>
                  <a:pt x="8246235" y="0"/>
                </a:lnTo>
                <a:lnTo>
                  <a:pt x="8246235" y="2529520"/>
                </a:lnTo>
                <a:lnTo>
                  <a:pt x="0" y="2529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7483" y="510198"/>
            <a:ext cx="1963310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650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XML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39252"/>
            <a:ext cx="2758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activity_main.xml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437129"/>
            <a:ext cx="2758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MainActivity.kt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0971" y="510198"/>
            <a:ext cx="7867631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650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Jetpack Compose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159648" y="767781"/>
            <a:ext cx="4422885" cy="8751438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6613" t="-7474" r="-3663" b="-448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132270" y="4142533"/>
            <a:ext cx="2477640" cy="2001933"/>
          </a:xfrm>
          <a:custGeom>
            <a:avLst/>
            <a:gdLst/>
            <a:ahLst/>
            <a:cxnLst/>
            <a:rect r="r" b="b" t="t" l="l"/>
            <a:pathLst>
              <a:path h="2001933" w="2477640">
                <a:moveTo>
                  <a:pt x="0" y="0"/>
                </a:moveTo>
                <a:lnTo>
                  <a:pt x="2477640" y="0"/>
                </a:lnTo>
                <a:lnTo>
                  <a:pt x="2477640" y="2001934"/>
                </a:lnTo>
                <a:lnTo>
                  <a:pt x="0" y="2001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42" t="0" r="-314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4642803"/>
            <a:ext cx="7891595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Prikaz/skrivanje elemenata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64067"/>
            <a:ext cx="8050721" cy="5887312"/>
          </a:xfrm>
          <a:custGeom>
            <a:avLst/>
            <a:gdLst/>
            <a:ahLst/>
            <a:cxnLst/>
            <a:rect r="r" b="b" t="t" l="l"/>
            <a:pathLst>
              <a:path h="5887312" w="8050721">
                <a:moveTo>
                  <a:pt x="0" y="0"/>
                </a:moveTo>
                <a:lnTo>
                  <a:pt x="8050721" y="0"/>
                </a:lnTo>
                <a:lnTo>
                  <a:pt x="8050721" y="5887312"/>
                </a:lnTo>
                <a:lnTo>
                  <a:pt x="0" y="588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3" r="0" b="-2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861944"/>
            <a:ext cx="8050721" cy="1098672"/>
          </a:xfrm>
          <a:custGeom>
            <a:avLst/>
            <a:gdLst/>
            <a:ahLst/>
            <a:cxnLst/>
            <a:rect r="r" b="b" t="t" l="l"/>
            <a:pathLst>
              <a:path h="1098672" w="8050721">
                <a:moveTo>
                  <a:pt x="0" y="0"/>
                </a:moveTo>
                <a:lnTo>
                  <a:pt x="8050721" y="0"/>
                </a:lnTo>
                <a:lnTo>
                  <a:pt x="8050721" y="1098672"/>
                </a:lnTo>
                <a:lnTo>
                  <a:pt x="0" y="1098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7916" y="2264067"/>
            <a:ext cx="8273741" cy="2680007"/>
          </a:xfrm>
          <a:custGeom>
            <a:avLst/>
            <a:gdLst/>
            <a:ahLst/>
            <a:cxnLst/>
            <a:rect r="r" b="b" t="t" l="l"/>
            <a:pathLst>
              <a:path h="2680007" w="8273741">
                <a:moveTo>
                  <a:pt x="0" y="0"/>
                </a:moveTo>
                <a:lnTo>
                  <a:pt x="8273741" y="0"/>
                </a:lnTo>
                <a:lnTo>
                  <a:pt x="8273741" y="2680007"/>
                </a:lnTo>
                <a:lnTo>
                  <a:pt x="0" y="2680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7483" y="510198"/>
            <a:ext cx="1963310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650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XML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39252"/>
            <a:ext cx="2758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activity_main.xml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437129"/>
            <a:ext cx="2758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MainActivity.kt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0971" y="510198"/>
            <a:ext cx="7867631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650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Jetpack Compose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159648" y="767781"/>
            <a:ext cx="4422885" cy="8751438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6613" t="-7474" r="-3663" b="-448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021975" y="4361071"/>
            <a:ext cx="2698230" cy="1564858"/>
          </a:xfrm>
          <a:custGeom>
            <a:avLst/>
            <a:gdLst/>
            <a:ahLst/>
            <a:cxnLst/>
            <a:rect r="r" b="b" t="t" l="l"/>
            <a:pathLst>
              <a:path h="1564858" w="2698230">
                <a:moveTo>
                  <a:pt x="0" y="0"/>
                </a:moveTo>
                <a:lnTo>
                  <a:pt x="2698230" y="0"/>
                </a:lnTo>
                <a:lnTo>
                  <a:pt x="2698230" y="1564858"/>
                </a:lnTo>
                <a:lnTo>
                  <a:pt x="0" y="1564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4642803"/>
            <a:ext cx="7891595" cy="102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Checkbox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64067"/>
            <a:ext cx="7749529" cy="5406170"/>
          </a:xfrm>
          <a:custGeom>
            <a:avLst/>
            <a:gdLst/>
            <a:ahLst/>
            <a:cxnLst/>
            <a:rect r="r" b="b" t="t" l="l"/>
            <a:pathLst>
              <a:path h="5406170" w="7749529">
                <a:moveTo>
                  <a:pt x="0" y="0"/>
                </a:moveTo>
                <a:lnTo>
                  <a:pt x="7749529" y="0"/>
                </a:lnTo>
                <a:lnTo>
                  <a:pt x="7749529" y="5406171"/>
                </a:lnTo>
                <a:lnTo>
                  <a:pt x="0" y="540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242921"/>
            <a:ext cx="7749529" cy="2044079"/>
          </a:xfrm>
          <a:custGeom>
            <a:avLst/>
            <a:gdLst/>
            <a:ahLst/>
            <a:cxnLst/>
            <a:rect r="r" b="b" t="t" l="l"/>
            <a:pathLst>
              <a:path h="2044079" w="7749529">
                <a:moveTo>
                  <a:pt x="0" y="0"/>
                </a:moveTo>
                <a:lnTo>
                  <a:pt x="7749529" y="0"/>
                </a:lnTo>
                <a:lnTo>
                  <a:pt x="7749529" y="2044079"/>
                </a:lnTo>
                <a:lnTo>
                  <a:pt x="0" y="2044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7916" y="2264067"/>
            <a:ext cx="8273741" cy="5118710"/>
          </a:xfrm>
          <a:custGeom>
            <a:avLst/>
            <a:gdLst/>
            <a:ahLst/>
            <a:cxnLst/>
            <a:rect r="r" b="b" t="t" l="l"/>
            <a:pathLst>
              <a:path h="5118710" w="8273741">
                <a:moveTo>
                  <a:pt x="0" y="0"/>
                </a:moveTo>
                <a:lnTo>
                  <a:pt x="8273741" y="0"/>
                </a:lnTo>
                <a:lnTo>
                  <a:pt x="8273741" y="5118710"/>
                </a:lnTo>
                <a:lnTo>
                  <a:pt x="0" y="511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7483" y="510198"/>
            <a:ext cx="1963310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650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XML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39252"/>
            <a:ext cx="2758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activity_main.xml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818106"/>
            <a:ext cx="2758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MainActivity.kt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0971" y="510198"/>
            <a:ext cx="7867631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650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Jetpack Compose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HOME EKRAN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789" y="4524634"/>
            <a:ext cx="9337606" cy="551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Prikaz ukupne potrošnje</a:t>
            </a:r>
          </a:p>
          <a:p>
            <a:pPr algn="l" marL="626106" indent="-313053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Broj unetih troškova</a:t>
            </a:r>
          </a:p>
          <a:p>
            <a:pPr algn="l" marL="626106" indent="-313053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Filteri po kategorijama</a:t>
            </a:r>
          </a:p>
          <a:p>
            <a:pPr algn="l" marL="626106" indent="-313053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Lista troškova:</a:t>
            </a:r>
          </a:p>
          <a:p>
            <a:pPr algn="l" marL="1252211" indent="-417404" lvl="2">
              <a:lnSpc>
                <a:spcPts val="4378"/>
              </a:lnSpc>
              <a:buFont typeface="Arial"/>
              <a:buChar char="⚬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Opis</a:t>
            </a:r>
          </a:p>
          <a:p>
            <a:pPr algn="l" marL="1252211" indent="-417404" lvl="2">
              <a:lnSpc>
                <a:spcPts val="4378"/>
              </a:lnSpc>
              <a:buFont typeface="Arial"/>
              <a:buChar char="⚬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Kategorija</a:t>
            </a:r>
          </a:p>
          <a:p>
            <a:pPr algn="l" marL="1252211" indent="-417404" lvl="2">
              <a:lnSpc>
                <a:spcPts val="4378"/>
              </a:lnSpc>
              <a:buFont typeface="Arial"/>
              <a:buChar char="⚬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Iznos (€)</a:t>
            </a:r>
          </a:p>
          <a:p>
            <a:pPr algn="l" marL="1252211" indent="-417404" lvl="2">
              <a:lnSpc>
                <a:spcPts val="4378"/>
              </a:lnSpc>
              <a:buFont typeface="Arial"/>
              <a:buChar char="⚬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Ikonica za brisanje</a:t>
            </a:r>
          </a:p>
          <a:p>
            <a:pPr algn="l" marL="626106" indent="-313053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Empty state ako nema podataka</a:t>
            </a:r>
          </a:p>
          <a:p>
            <a:pPr algn="l" marL="0" indent="0" lvl="0">
              <a:lnSpc>
                <a:spcPts val="4378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836415" y="767781"/>
            <a:ext cx="4422885" cy="8751438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DODAVANJE TROŠKA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789" y="5029200"/>
            <a:ext cx="6580386" cy="342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Unos iznosa (€)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Opis (opciono)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Izbor kategorije (dropdown)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Validacija (iznos &gt; 0)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Snackbar potvrda</a:t>
            </a:r>
          </a:p>
          <a:p>
            <a:pPr algn="l" marL="0" indent="0" lvl="0">
              <a:lnSpc>
                <a:spcPts val="4530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836415" y="767781"/>
            <a:ext cx="4422885" cy="8751438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IZMENA TROŠKA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789" y="5029200"/>
            <a:ext cx="6580386" cy="21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Unapred popunjena forma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Izmena podataka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Brisanje uz dijalog potvrde</a:t>
            </a:r>
          </a:p>
          <a:p>
            <a:pPr algn="l" marL="0" indent="0" lvl="0">
              <a:lnSpc>
                <a:spcPts val="3171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836415" y="767781"/>
            <a:ext cx="4422885" cy="8751438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STATISTIKA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789" y="4515109"/>
            <a:ext cx="9337606" cy="571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Izbor vremenskog opsega:</a:t>
            </a:r>
          </a:p>
          <a:p>
            <a:pPr algn="l" marL="1295400" indent="-431800" lvl="2">
              <a:lnSpc>
                <a:spcPts val="4530"/>
              </a:lnSpc>
              <a:buFont typeface="Arial"/>
              <a:buChar char="⚬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Svi troškovi</a:t>
            </a:r>
          </a:p>
          <a:p>
            <a:pPr algn="l" marL="1295400" indent="-431800" lvl="2">
              <a:lnSpc>
                <a:spcPts val="4530"/>
              </a:lnSpc>
              <a:buFont typeface="Arial"/>
              <a:buChar char="⚬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Poslednjih 7 dana</a:t>
            </a:r>
          </a:p>
          <a:p>
            <a:pPr algn="l" marL="1295400" indent="-431800" lvl="2">
              <a:lnSpc>
                <a:spcPts val="4530"/>
              </a:lnSpc>
              <a:buFont typeface="Arial"/>
              <a:buChar char="⚬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Poslednjih 30 dana</a:t>
            </a:r>
          </a:p>
          <a:p>
            <a:pPr algn="l" marL="1295400" indent="-431800" lvl="2">
              <a:lnSpc>
                <a:spcPts val="4530"/>
              </a:lnSpc>
              <a:buFont typeface="Arial"/>
              <a:buChar char="⚬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Tekući mesec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Pie chart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Bar chart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Legenda (kategorija + procenat + iznos)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Empty state ako nema podataka</a:t>
            </a:r>
          </a:p>
          <a:p>
            <a:pPr algn="l" marL="0" indent="0" lvl="0">
              <a:lnSpc>
                <a:spcPts val="4530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836415" y="767781"/>
            <a:ext cx="4422885" cy="8751438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813296" y="4984478"/>
            <a:ext cx="6635037" cy="131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PITANJA?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813296" y="4379640"/>
            <a:ext cx="6635037" cy="252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HVALA NA PAŽNJI!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DAG-_Rs01GA</dc:identifier>
  <dcterms:modified xsi:type="dcterms:W3CDTF">2011-08-01T06:04:30Z</dcterms:modified>
  <cp:revision>1</cp:revision>
  <dc:title>ExpenseTracker</dc:title>
</cp:coreProperties>
</file>